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AWS ファイルストレージ選択肢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FSx Windows / NFS / Qumulo メリデメ比較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作成日: 2026年03月02日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DC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3つの選択肢 — 全体比較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比較項目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FSx Windows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FSx NFS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Qumulo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費用（年間・50TB）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約180万円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約150万円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別途見積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運用難易度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高⚠️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低✅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学習曲線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中程度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緩やか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マネージド度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完全マネージド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完全マネージド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マネージド（オプション）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既存運用継承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○（部分的）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○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GUI操作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○（Windows）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○（System Manager）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○（Web UI）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DC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選択肢1: FSx for Windows File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/>
            </a:pPr>
            <a:r>
              <a:t>✅ メリット</a:t>
            </a:r>
          </a:p>
          <a:p>
            <a:pPr>
              <a:spcBef>
                <a:spcPts val="600"/>
              </a:spcBef>
              <a:defRPr sz="1300"/>
            </a:pPr>
            <a:r>
              <a:t>  • 既存のWindows運用方法をそのまま継承可能</a:t>
            </a:r>
          </a:p>
          <a:p>
            <a:pPr>
              <a:spcBef>
                <a:spcPts val="600"/>
              </a:spcBef>
              <a:defRPr sz="1300"/>
            </a:pPr>
            <a:r>
              <a:t>  • ユーザーが既存のWindowsファイル共有と同じ感覚で利用可能</a:t>
            </a:r>
          </a:p>
          <a:p>
            <a:pPr>
              <a:spcBef>
                <a:spcPts val="600"/>
              </a:spcBef>
              <a:defRPr sz="1300"/>
            </a:pPr>
            <a:r>
              <a:t>  • AD連携による細かい権限制御に対応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⚠️  デメリット / 注意点</a:t>
            </a:r>
          </a:p>
          <a:p>
            <a:pPr>
              <a:spcBef>
                <a:spcPts val="600"/>
              </a:spcBef>
              <a:defRPr sz="1300"/>
            </a:pPr>
            <a:r>
              <a:t>  • 運用手順書（リストア・バックアップ）の作成がボリュームあり</a:t>
            </a:r>
          </a:p>
          <a:p>
            <a:pPr>
              <a:spcBef>
                <a:spcPts val="600"/>
              </a:spcBef>
              <a:defRPr sz="1300"/>
            </a:pPr>
            <a:r>
              <a:t>  • AWS側の管理・監視体制の構築が必要</a:t>
            </a:r>
          </a:p>
          <a:p>
            <a:pPr>
              <a:spcBef>
                <a:spcPts val="600"/>
              </a:spcBef>
              <a:defRPr sz="1300"/>
            </a:pPr>
            <a:r>
              <a:t>  • 費用が3選択肢の中で最も高い（約180万円/年）</a:t>
            </a:r>
          </a:p>
          <a:p>
            <a:pPr>
              <a:spcBef>
                <a:spcPts val="600"/>
              </a:spcBef>
              <a:defRPr sz="1300"/>
            </a:pPr>
            <a:r>
              <a:t>  • オンプレミアス側の人員スキルがそのままAWS側でも必要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DC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選択肢2: FSx for NetApp ONTAP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/>
            </a:pPr>
            <a:r>
              <a:t>✅ メリット</a:t>
            </a:r>
          </a:p>
          <a:p>
            <a:pPr>
              <a:spcBef>
                <a:spcPts val="600"/>
              </a:spcBef>
              <a:defRPr sz="1300"/>
            </a:pPr>
            <a:r>
              <a:t>  • NFS / SMB の両プロトコルをサポート（柔軟性が高い）</a:t>
            </a:r>
          </a:p>
          <a:p>
            <a:pPr>
              <a:spcBef>
                <a:spcPts val="600"/>
              </a:spcBef>
              <a:defRPr sz="1300"/>
            </a:pPr>
            <a:r>
              <a:t>  • NetApp ONTAP の豊富な機能（Snapshot、レプリケーション）</a:t>
            </a:r>
          </a:p>
          <a:p>
            <a:pPr>
              <a:spcBef>
                <a:spcPts val="600"/>
              </a:spcBef>
              <a:defRPr sz="1300"/>
            </a:pPr>
            <a:r>
              <a:t>  • 運用手順書は適度な複雑さ（FSx Windowsより簡潔）</a:t>
            </a:r>
          </a:p>
          <a:p>
            <a:pPr>
              <a:spcBef>
                <a:spcPts val="600"/>
              </a:spcBef>
              <a:defRPr sz="1300"/>
            </a:pPr>
            <a:r>
              <a:t>  • Snapshot活用でバックアップ・リストアが効率的</a:t>
            </a:r>
          </a:p>
          <a:p>
            <a:pPr>
              <a:spcBef>
                <a:spcPts val="600"/>
              </a:spcBef>
              <a:defRPr sz="1300"/>
            </a:pPr>
            <a:r>
              <a:t>  • 既存のNetApp環境がある場合、知見を活用可能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⚠️  デメリット / 注意点</a:t>
            </a:r>
          </a:p>
          <a:p>
            <a:pPr>
              <a:spcBef>
                <a:spcPts val="600"/>
              </a:spcBef>
              <a:defRPr sz="1300"/>
            </a:pPr>
            <a:r>
              <a:t>  • ONTAP特有の管理・運用知識が必要（中程度の学習曲線）</a:t>
            </a:r>
          </a:p>
          <a:p>
            <a:pPr>
              <a:spcBef>
                <a:spcPts val="600"/>
              </a:spcBef>
              <a:defRPr sz="1300"/>
            </a:pPr>
            <a:r>
              <a:t>  • Windows運用とは異なるため、一部の既存手順は修正が必要</a:t>
            </a:r>
          </a:p>
          <a:p>
            <a:pPr>
              <a:spcBef>
                <a:spcPts val="600"/>
              </a:spcBef>
              <a:defRPr sz="1300"/>
            </a:pPr>
            <a:r>
              <a:t>  • 費用は中程度（約150万円/年）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DC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選択肢3: Qumulo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/>
            </a:pPr>
            <a:r>
              <a:t>✅ メリット</a:t>
            </a:r>
          </a:p>
          <a:p>
            <a:pPr>
              <a:spcBef>
                <a:spcPts val="600"/>
              </a:spcBef>
              <a:defRPr sz="1300"/>
            </a:pPr>
            <a:r>
              <a:t>  • 運用の簡素化とコスト削減を同時に実現（ハイブリッド型）</a:t>
            </a:r>
          </a:p>
          <a:p>
            <a:pPr>
              <a:spcBef>
                <a:spcPts val="600"/>
              </a:spcBef>
              <a:defRPr sz="1300"/>
            </a:pPr>
            <a:r>
              <a:t>  • GUI ベースの直感的な管理画面</a:t>
            </a:r>
          </a:p>
          <a:p>
            <a:pPr>
              <a:spcBef>
                <a:spcPts val="600"/>
              </a:spcBef>
              <a:defRPr sz="1300"/>
            </a:pPr>
            <a:r>
              <a:t>  • Windows / NFS / SMB など複数プロトコルをサポート</a:t>
            </a:r>
          </a:p>
          <a:p>
            <a:pPr>
              <a:spcBef>
                <a:spcPts val="600"/>
              </a:spcBef>
              <a:defRPr sz="1300"/>
            </a:pPr>
            <a:r>
              <a:t>  • 既存運用の継承と新しい運用方法の折衷が可能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⚠️  デメリット / 注意点</a:t>
            </a:r>
          </a:p>
          <a:p>
            <a:pPr>
              <a:spcBef>
                <a:spcPts val="600"/>
              </a:spcBef>
              <a:defRPr sz="1300"/>
            </a:pPr>
            <a:r>
              <a:t>  • AWS純正マネージドサービスではない（オンプレミアム型）</a:t>
            </a:r>
          </a:p>
          <a:p>
            <a:pPr>
              <a:spcBef>
                <a:spcPts val="600"/>
              </a:spcBef>
              <a:defRPr sz="1300"/>
            </a:pPr>
            <a:r>
              <a:t>  • 定期的なメンテナンス・パッチ適用が必要（Windowsより少ない）</a:t>
            </a:r>
          </a:p>
          <a:p>
            <a:pPr>
              <a:spcBef>
                <a:spcPts val="600"/>
              </a:spcBef>
              <a:defRPr sz="1300"/>
            </a:pPr>
            <a:r>
              <a:t>  • 初期費用・運用費用は別途見積が必要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DC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選択肢の判定フロー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/>
            </a:pPr>
            <a:r>
              <a:t>【判定フロー】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Q1: 既存のWindowsファイルサーバーの運用方法をそのまま引き継ぎたい？</a:t>
            </a:r>
          </a:p>
          <a:p>
            <a:pPr>
              <a:spcBef>
                <a:spcPts val="600"/>
              </a:spcBef>
              <a:defRPr sz="1300"/>
            </a:pPr>
            <a:r>
              <a:t>  → YES  →  FSx for Windows File Server 推奨</a:t>
            </a:r>
          </a:p>
          <a:p>
            <a:pPr>
              <a:spcBef>
                <a:spcPts val="600"/>
              </a:spcBef>
              <a:defRPr sz="1300"/>
            </a:pPr>
            <a:r>
              <a:t>  → NO   →  Q2へ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Q2: NetApp ONTAP の豊富な機能（Snapshot等）を活用したい？</a:t>
            </a:r>
          </a:p>
          <a:p>
            <a:pPr>
              <a:spcBef>
                <a:spcPts val="600"/>
              </a:spcBef>
              <a:defRPr sz="1300"/>
            </a:pPr>
            <a:r>
              <a:t>     または、ONTAP環境がすでに存在する？</a:t>
            </a:r>
          </a:p>
          <a:p>
            <a:pPr>
              <a:spcBef>
                <a:spcPts val="600"/>
              </a:spcBef>
              <a:defRPr sz="1300"/>
            </a:pPr>
            <a:r>
              <a:t>  → YES  →  FSx for NetApp ONTAP 推奨</a:t>
            </a:r>
          </a:p>
          <a:p>
            <a:pPr>
              <a:spcBef>
                <a:spcPts val="600"/>
              </a:spcBef>
              <a:defRPr sz="1300"/>
            </a:pPr>
            <a:r>
              <a:t>  → NO   →  Q3へ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Q3: 運用の簡素化と費用削減の両立を目指したい？</a:t>
            </a:r>
          </a:p>
          <a:p>
            <a:pPr>
              <a:spcBef>
                <a:spcPts val="600"/>
              </a:spcBef>
              <a:defRPr sz="1300"/>
            </a:pPr>
            <a:r>
              <a:t>     または、カスタマイズ性を重視したい？</a:t>
            </a:r>
          </a:p>
          <a:p>
            <a:pPr>
              <a:spcBef>
                <a:spcPts val="600"/>
              </a:spcBef>
              <a:defRPr sz="1300"/>
            </a:pPr>
            <a:r>
              <a:t>  → YES  →  Qumulo 推奨</a:t>
            </a:r>
          </a:p>
          <a:p>
            <a:pPr>
              <a:spcBef>
                <a:spcPts val="600"/>
              </a:spcBef>
              <a:defRPr sz="1300"/>
            </a:pPr>
            <a:r>
              <a:t>  → NO   →  要相談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DC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/>
            </a:pPr>
            <a:r>
              <a:t>【次のステップ】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① 本資料をご確認いただき、3つの選択肢からご検討ください。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② ご不明な点、ご質問がございましたら、お気軽にお問い合わせください。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③ お打ち合わせの際に以下を詳しくヒアリングさせていただきます：</a:t>
            </a:r>
          </a:p>
          <a:p>
            <a:pPr>
              <a:spcBef>
                <a:spcPts val="600"/>
              </a:spcBef>
              <a:defRPr sz="1300"/>
            </a:pPr>
            <a:r>
              <a:t>   • 移行後の運用方針（既存継承 vs 簡素化）</a:t>
            </a:r>
          </a:p>
          <a:p>
            <a:pPr>
              <a:spcBef>
                <a:spcPts val="600"/>
              </a:spcBef>
              <a:defRPr sz="1300"/>
            </a:pPr>
            <a:r>
              <a:t>   • 必要なサポート範囲（手順書、レクチャー、監視）</a:t>
            </a:r>
          </a:p>
          <a:p>
            <a:pPr>
              <a:spcBef>
                <a:spcPts val="600"/>
              </a:spcBef>
              <a:defRPr sz="1300"/>
            </a:pPr>
            <a:r>
              <a:t>   • AWS側の体制・リソース確保状況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④ ヒアリング結果をもとに、詳細見積と提案書をお出しします。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