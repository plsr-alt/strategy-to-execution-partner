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6858000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Yu Gothic"/>
              </a:rPr>
              <a:t>日本のSaaS市場
2025年 市場調査レポート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8F5"/>
                </a:solidFill>
                <a:latin typeface="Yu Gothic"/>
              </a:rPr>
              <a:t>市場規模 / 主要プレイヤー / トレンド / ビジネス示唆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2026年2月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4312" y="27432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</a:rPr>
              <a:t>Market
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エグゼクティブサマリー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8F5"/>
                </a:solidFill>
                <a:latin typeface="Yu Gothic"/>
              </a:rPr>
              <a:t>Key Findings — 日本のSaaS市場 2025年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34747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5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474720" cy="411480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979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📈 市場規模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Yu Gothic"/>
              </a:rPr>
              <a:t>世界SaaS市場は2020年の1,030億ドルから2022年には1,450億ドルへ拡大。CAGR約11%で成長継続。日本市場もDX推進を背景に高成長フェーズにある。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234440"/>
            <a:ext cx="34747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5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234440"/>
            <a:ext cx="3474720" cy="411480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2979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🏢 主要プレイヤー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7373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Yu Gothic"/>
              </a:rPr>
              <a:t>Tier1はSalesforce（CRM）・Microsoft（Power Platform）。Tier2はGoogle Workspace・Adobe Experience Cloud。国内ではマネーフォワード・freee・Sansanが台頭。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234440"/>
            <a:ext cx="34747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5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1234440"/>
            <a:ext cx="3474720" cy="411480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12979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🎯 ビジネス示唆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Yu Gothic"/>
              </a:rPr>
              <a:t>AI統合SaaSへのシフトが加速。SMB向け低価格帯と大企業向けエンタープライズで二極化。垂直特化型（業界特化SaaS）に参入余地あり。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6217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Yu Gothic"/>
              </a:rPr>
              <a:t>出典: Gartner調査 / 各社公開情報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6217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55555"/>
                </a:solidFill>
                <a:latin typeface="Yu Gothic"/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市場規模 — 世界SaaS市場は年率11%で成長中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8F5"/>
                </a:solidFill>
                <a:latin typeface="Yu Gothic"/>
              </a:rPr>
              <a:t>Market Size (Source: Gartner, 2022)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286000" cy="237744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2598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Yu Gothic"/>
              </a:rPr>
              <a:t>市場規模推移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47672"/>
            <a:ext cx="3139440" cy="50292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Yu Gothic"/>
              </a:rPr>
              <a:t>2020年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6640" y="194767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  <a:latin typeface="Yu Gothic"/>
              </a:rPr>
              <a:t>1,030 億ドル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73552"/>
            <a:ext cx="4419600" cy="502920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Yu Gothic"/>
              </a:rPr>
              <a:t>2022年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0" y="32735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  <a:latin typeface="Yu Gothic"/>
              </a:rPr>
              <a:t>1,450 億ドル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99432"/>
            <a:ext cx="6400800" cy="5029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251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Yu Gothic"/>
              </a:rPr>
              <a:t>2025年(予測)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5994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  <a:latin typeface="Yu Gothic"/>
              </a:rPr>
              <a:t>~2,100 億ドル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234440"/>
            <a:ext cx="3566160" cy="201168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2B5C"/>
                </a:solidFill>
                <a:latin typeface="Yu Gothic"/>
              </a:rPr>
              <a:t>CAGR (2020→2022)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6916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5AA7"/>
                </a:solidFill>
                <a:latin typeface="Yu Gothic"/>
              </a:rPr>
              <a:t>≈ 11%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Yu Gothic"/>
              </a:rPr>
              <a:t>年平均成長率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429000"/>
            <a:ext cx="356616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2B5C"/>
                </a:solidFill>
                <a:latin typeface="Yu Gothic"/>
              </a:rPr>
              <a:t>🇯🇵 日本市場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8862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Yu Gothic"/>
              </a:rPr>
              <a:t>• DX推進法・政府クラウド移行方針を背景に急拡大
• 国内SaaS市場は2024年に約1兆円超と推定
• 中小企業への浸透が今後の成長ドライバー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6217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Yu Gothic"/>
              </a:rPr>
              <a:t>出典: Gartner調査 / 各社公開情報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6217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55555"/>
                </a:solidFill>
                <a:latin typeface="Yu Gothic"/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主要プレイヤー — グローバル大手が市場を牽引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8F5"/>
                </a:solidFill>
                <a:latin typeface="Yu Gothic"/>
              </a:rPr>
              <a:t>Key Players (Tier Classification)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88720"/>
            <a:ext cx="3749039" cy="5029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3952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Yu Gothic"/>
              </a:rPr>
              <a:t>Tier 1
グローバルリーダー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783080"/>
            <a:ext cx="3749039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856232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  <a:latin typeface="Yu Gothic"/>
              </a:rPr>
              <a:t>Salesforce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86000"/>
            <a:ext cx="35661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Yu Gothic"/>
              </a:rPr>
              <a:t>CRM・営業支援のデファクトスタンダード。国内大企業での導入率が高い。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3794760"/>
            <a:ext cx="3749039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867912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  <a:latin typeface="Yu Gothic"/>
              </a:rPr>
              <a:t>Microsoft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297680"/>
            <a:ext cx="35661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Yu Gothic"/>
              </a:rPr>
              <a:t>Microsoft 365・Teams・Power Platformで業務全般をカバー。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19" y="1188720"/>
            <a:ext cx="3749039" cy="502920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23952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Yu Gothic"/>
              </a:rPr>
              <a:t>Tier 2
メジャープレイヤー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19" y="1783080"/>
            <a:ext cx="3749039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005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1856232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AA7"/>
                </a:solidFill>
                <a:latin typeface="Yu Gothic"/>
              </a:rPr>
              <a:t>Google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2286000"/>
            <a:ext cx="35661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Yu Gothic"/>
              </a:rPr>
              <a:t>Google Workspace（旧G Suite）でSMB市場を中心に拡大。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19" y="3794760"/>
            <a:ext cx="3749039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005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59" y="3867912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AA7"/>
                </a:solidFill>
                <a:latin typeface="Yu Gothic"/>
              </a:rPr>
              <a:t>Adobe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4297680"/>
            <a:ext cx="35661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Yu Gothic"/>
              </a:rPr>
              <a:t>Experience Cloudでマーケティング・デジタル体験領域に特化。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38" y="1188720"/>
            <a:ext cx="3749039" cy="502920"/>
          </a:xfrm>
          <a:prstGeom prst="rect">
            <a:avLst/>
          </a:prstGeom>
          <a:solidFill>
            <a:srgbClr val="4C8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8" y="123952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Yu Gothic"/>
              </a:rPr>
              <a:t>Tier 3
国内注目プレイヤー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38" y="1783080"/>
            <a:ext cx="3749039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4C8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8" y="1856232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8CC4"/>
                </a:solidFill>
                <a:latin typeface="Yu Gothic"/>
              </a:rPr>
              <a:t>マネーフォワード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8" y="2286000"/>
            <a:ext cx="35661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Yu Gothic"/>
              </a:rPr>
              <a:t>クラウド会計・給与で中小企業向けに急成長。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38" y="3794760"/>
            <a:ext cx="3749039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4C8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8" y="3867912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8CC4"/>
                </a:solidFill>
                <a:latin typeface="Yu Gothic"/>
              </a:rPr>
              <a:t>Sansan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8" y="4297680"/>
            <a:ext cx="35661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Yu Gothic"/>
              </a:rPr>
              <a:t>名刺管理→営業DXへ領域拡張。エンタープライズ向け。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217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Yu Gothic"/>
              </a:rPr>
              <a:t>出典: Gartner調査 / 各社公開情報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6217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55555"/>
                </a:solidFill>
                <a:latin typeface="Yu Gothic"/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主要トレンド — AI統合・業界特化・コスト最適化が加速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8F5"/>
                </a:solidFill>
                <a:latin typeface="Yu Gothic"/>
              </a:rPr>
              <a:t>Key Trends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64592" cy="1691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B5C"/>
                </a:solidFill>
                <a:latin typeface="Yu Gothic"/>
              </a:rPr>
              <a:t>① AI統合SaaSの台頭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307592"/>
            <a:ext cx="749808" cy="25603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4608" y="131673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64792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Yu Gothic"/>
              </a:rPr>
              <a:t>ChatGPT等のLLMがSaaSに組み込まれ、業務自動化が急加速。Salesforce Einstein・Microsoft Copilotが先行。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23444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234440"/>
            <a:ext cx="164592" cy="1691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258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B5C"/>
                </a:solidFill>
                <a:latin typeface="Yu Gothic"/>
              </a:rPr>
              <a:t>② 垂直特化（バーティカルSaaS）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61320" y="1307592"/>
            <a:ext cx="749808" cy="25603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79608" y="131673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764792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Yu Gothic"/>
              </a:rPr>
              <a:t>医療・建設・製造など業界特化型SaaSが急成長。汎用SaaSとの差別化で高い解約率低下を実現。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90672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090672"/>
            <a:ext cx="164592" cy="1691640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1821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B5C"/>
                </a:solidFill>
                <a:latin typeface="Yu Gothic"/>
              </a:rPr>
              <a:t>③ PLG（Product-Led Growth）の浸透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163824"/>
            <a:ext cx="749808" cy="256032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4608" y="3172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21024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Yu Gothic"/>
              </a:rPr>
              <a:t>フリーミアム→有料転換モデルが主流に。SMB獲得コストを大幅削減し、国内スタートアップも採用拡大。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3090672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3090672"/>
            <a:ext cx="164592" cy="1691640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1821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B5C"/>
                </a:solidFill>
                <a:latin typeface="Yu Gothic"/>
              </a:rPr>
              <a:t>④ セキュリティ・コンプライアンス強化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61320" y="3163824"/>
            <a:ext cx="749808" cy="256032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79608" y="3172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Yu Gothic"/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621024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Yu Gothic"/>
              </a:rPr>
              <a:t>政府のクラウド移行方針とともにISMAP認証・ゼロトラスト対応が選定条件に浮上。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217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Yu Gothic"/>
              </a:rPr>
              <a:t>出典: Gartner調査 / 各社公開情報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6217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55555"/>
                </a:solidFill>
                <a:latin typeface="Yu Gothic"/>
              </a:rP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ビジネス示唆 — 参入・投資の優先アクション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8F5"/>
                </a:solidFill>
                <a:latin typeface="Yu Gothic"/>
              </a:rPr>
              <a:t>Business Implications &amp; Recommended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521440" cy="1261872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777240" cy="126187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76479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533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  <a:latin typeface="Yu Gothic"/>
              </a:rPr>
              <a:t>▶ バーティカルSaaSへの参入検討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92224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Yu Gothic"/>
              </a:rPr>
              <a:t>汎用SaaSが成熟しつつある現在、業界特化型は競争が少なく高ARRを狙える。医療・建設・製造を優先領域として検討。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51760"/>
            <a:ext cx="115214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777240" cy="126187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315468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43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  <a:latin typeface="Yu Gothic"/>
              </a:rPr>
              <a:t>▶ AI機能の早期組み込み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8211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Yu Gothic"/>
              </a:rPr>
              <a:t>LLM統合は今や顧客の期待値。競合に対する差別化として、既存プロダクトへのCopilot的機能追加を最優先で投資。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041648"/>
            <a:ext cx="11521440" cy="1261872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041648"/>
            <a:ext cx="777240" cy="1261872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454456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1330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  <a:latin typeface="Yu Gothic"/>
              </a:rPr>
              <a:t>▶ PLGモデルへの転換検討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Yu Gothic"/>
              </a:rPr>
              <a:t>SMB市場獲得にはフリーミアム→有料転換モデルが有効。営業コスト削減とロングテール顧客獲得を同時に実現。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431536"/>
            <a:ext cx="115214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5431536"/>
            <a:ext cx="777240" cy="1261872"/>
          </a:xfrm>
          <a:prstGeom prst="rect">
            <a:avLst/>
          </a:prstGeom>
          <a:solidFill>
            <a:srgbClr val="00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593445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2297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  <a:latin typeface="Yu Gothic"/>
              </a:rPr>
              <a:t>▶ ISMAP・セキュリティ認証取得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96188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  <a:latin typeface="Yu Gothic"/>
              </a:rPr>
              <a:t>政府・自治体案件を狙う場合、ISMAP登録は必須要件。認証取得で公共市場への参入障壁を突破できる。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6217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Yu Gothic"/>
              </a:rPr>
              <a:t>出典: Gartner調査 / 各社公開情報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217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55555"/>
                </a:solidFill>
                <a:latin typeface="Yu Gothic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