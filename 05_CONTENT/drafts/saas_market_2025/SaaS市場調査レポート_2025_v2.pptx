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C2A"/>
                </a:solidFill>
                <a:latin typeface="Yu Gothic"/>
              </a:rPr>
              <a:t>日本のSaaS市場
2025年 市場調査レポート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977639"/>
            <a:ext cx="6400800" cy="0"/>
          </a:xfrm>
          <a:prstGeom prst="line">
            <a:avLst/>
          </a:prstGeom>
          <a:ln w="25400">
            <a:solidFill>
              <a:srgbClr val="2E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Yu Gothic"/>
              </a:rPr>
              <a:t>市場規模 / 主要プレイヤー / トレンド / ビジネス示唆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Yu Gothic"/>
              </a:rPr>
              <a:t>2026年2月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601968"/>
            <a:ext cx="1143000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73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C2A"/>
                </a:solidFill>
                <a:latin typeface="Yu Gothic"/>
              </a:rPr>
              <a:t>日本のSaaS市場はDX推進を背景に急拡大しており、AI統合・業界特化が次の成長波となる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698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Yu Gothic"/>
              </a:rPr>
              <a:t>エグゼクティブサマリー｜Key Findings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62456"/>
            <a:ext cx="11430000" cy="0"/>
          </a:xfrm>
          <a:prstGeom prst="line">
            <a:avLst/>
          </a:prstGeom>
          <a:ln w="19050">
            <a:solidFill>
              <a:srgbClr val="2E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1435608"/>
            <a:ext cx="3566160" cy="347472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864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01  市場規模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56616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92808"/>
            <a:ext cx="329184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世界SaaS市場
1,030億ドル（2020）
→ 1,450億ドル（2022）
CAGR ≈ 11%
日本市場は2024年に
1兆円超と推計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35608"/>
            <a:ext cx="3566160" cy="347472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864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02  主要プレイヤー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783080"/>
            <a:ext cx="356616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892808"/>
            <a:ext cx="329184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Tier1（グローバル）
・Salesforce — CRM
・Microsoft — 365/Teams
Tier2
・Google Workspace
・Adobe Experience
国内勢
・マネーフォワード
・freee / Sansan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435608"/>
            <a:ext cx="3566160" cy="347472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4864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03  ビジネス示唆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783080"/>
            <a:ext cx="356616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92808"/>
            <a:ext cx="329184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【High】
・バーティカルSaaSへの参入
・AI機能の早期統合
【Medium】
・PLGモデル採用
・ISMAP認証取得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601968"/>
            <a:ext cx="1143000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66273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Yu Gothic"/>
              </a:rPr>
              <a:t>出所：Gartner調査 / 各社公開情報 / BCG分析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31752" y="660196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C2A"/>
                </a:solidFill>
                <a:latin typeface="Yu Gothic"/>
              </a:rPr>
              <a:t>世界SaaS市場は2020年比約40%増の1,450億ドルへ急拡大、CAGR11%の成長が継続している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698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Yu Gothic"/>
              </a:rPr>
              <a:t>市場規模推移｜Global SaaS Market Size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62456"/>
            <a:ext cx="11430000" cy="0"/>
          </a:xfrm>
          <a:prstGeom prst="line">
            <a:avLst/>
          </a:prstGeom>
          <a:ln w="19050">
            <a:solidFill>
              <a:srgbClr val="2E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1618488"/>
            <a:ext cx="0" cy="333756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4910328"/>
            <a:ext cx="594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463040" y="3295758"/>
            <a:ext cx="1188720" cy="1614569"/>
          </a:xfrm>
          <a:prstGeom prst="rect">
            <a:avLst/>
          </a:prstGeom>
          <a:solidFill>
            <a:srgbClr val="A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1171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Yu Gothic"/>
              </a:rPr>
              <a:t>1,030億ドル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9743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Yu Gothic"/>
              </a:rPr>
              <a:t>2020年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637390"/>
            <a:ext cx="1188720" cy="2272937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5334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Yu Gothic"/>
              </a:rPr>
              <a:t>1,450億ドル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9743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Yu Gothic"/>
              </a:rPr>
              <a:t>2022年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618488"/>
            <a:ext cx="1188720" cy="3291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234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Yu Gothic"/>
              </a:rPr>
              <a:t>~2,100億ドル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9743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Yu Gothic"/>
              </a:rPr>
              <a:t>2025年
(予測)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8424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3333"/>
                </a:solidFill>
                <a:latin typeface="Yu Gothic"/>
              </a:rPr>
              <a:t>CAGR
≈ 11%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618488"/>
            <a:ext cx="4389120" cy="4114800"/>
          </a:xfrm>
          <a:prstGeom prst="rect">
            <a:avLst/>
          </a:prstGeom>
          <a:solidFill>
            <a:srgbClr val="E8F5EC"/>
          </a:solidFill>
          <a:ln w="9525">
            <a:solidFill>
              <a:srgbClr val="2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618488"/>
            <a:ext cx="4389120" cy="347472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6692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日本市場 フォーカス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39" y="2075688"/>
            <a:ext cx="54864" cy="502920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9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C2A"/>
                </a:solidFill>
                <a:latin typeface="Yu Gothic"/>
              </a:rPr>
              <a:t>規模推定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2331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Yu Gothic"/>
              </a:rPr>
              <a:t>2024年に国内SaaS市場が
1兆円超に到達と推計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39" y="2944368"/>
            <a:ext cx="54864" cy="502920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399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C2A"/>
                </a:solidFill>
                <a:latin typeface="Yu Gothic"/>
              </a:rPr>
              <a:t>成長背景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9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Yu Gothic"/>
              </a:rPr>
              <a:t>政府DX推進・クラウド
移行方針が追い風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39" y="3813048"/>
            <a:ext cx="54864" cy="502920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399" y="3813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C2A"/>
                </a:solidFill>
                <a:latin typeface="Yu Gothic"/>
              </a:rPr>
              <a:t>普及率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399" y="4069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Yu Gothic"/>
              </a:rPr>
              <a:t>国内企業の64%以上が
SaaS含むクラウド導入済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39" y="4681728"/>
            <a:ext cx="54864" cy="502920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399" y="4681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C2A"/>
                </a:solidFill>
                <a:latin typeface="Yu Gothic"/>
              </a:rPr>
              <a:t>今後の鍵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399" y="4937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Yu Gothic"/>
              </a:rPr>
              <a:t>中小企業への浸透が
次の成長ドライバー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" y="6601968"/>
            <a:ext cx="1143000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" y="66273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Yu Gothic"/>
              </a:rPr>
              <a:t>出所：Gartner調査（2022）/ スマートキャンプ SaaS業界レポート / 各種公開情報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31752" y="660196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C2A"/>
                </a:solidFill>
                <a:latin typeface="Yu Gothic"/>
              </a:rPr>
              <a:t>SalesforceとMicrosoftがグローバルをリード、国内ではマネーフォワード・freeeが急成長中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698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Yu Gothic"/>
              </a:rPr>
              <a:t>主要プレイヤー分類｜Key Players by Tier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62456"/>
            <a:ext cx="11430000" cy="0"/>
          </a:xfrm>
          <a:prstGeom prst="line">
            <a:avLst/>
          </a:prstGeom>
          <a:ln w="19050">
            <a:solidFill>
              <a:srgbClr val="2E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1435608"/>
            <a:ext cx="3749039" cy="38404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9910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Yu Gothic"/>
              </a:rPr>
              <a:t>Tier 1  グローバルリーダー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9656"/>
            <a:ext cx="3749039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19656"/>
            <a:ext cx="54864" cy="225856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1109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Yu Gothic"/>
              </a:rPr>
              <a:t>Salesforce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295144.0"/>
            <a:ext cx="3474719" cy="0.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368296"/>
            <a:ext cx="352043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CRM・営業支援のデファクトスタンダード。国内大企業の採用率が高く、Einstein AIで差別化を強化。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133088"/>
            <a:ext cx="3749039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133088"/>
            <a:ext cx="54864" cy="225856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245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Yu Gothic"/>
              </a:rPr>
              <a:t>Microsoft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4608576.0"/>
            <a:ext cx="3474719" cy="0.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681728"/>
            <a:ext cx="352043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Microsoft 365・Teams・Power Platformで業務全体をカバー。Copilot AI統合で圧倒的優位。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435608"/>
            <a:ext cx="3749039" cy="384048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149910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Yu Gothic"/>
              </a:rPr>
              <a:t>Tier 2  メジャープレイヤー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819656"/>
            <a:ext cx="3749039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819656"/>
            <a:ext cx="54864" cy="2258568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191109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Yu Gothic"/>
              </a:rPr>
              <a:t>Google Workspace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34839" y="2295144.0"/>
            <a:ext cx="3474719" cy="0.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34839" y="2368296"/>
            <a:ext cx="352043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旧G Suite。SMB市場を中心に拡大。低コストと使いやすさが強み。Gemini AI統合が進行中。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4133088"/>
            <a:ext cx="3749039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4133088"/>
            <a:ext cx="54864" cy="2258568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42245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Yu Gothic"/>
              </a:rPr>
              <a:t>Adobe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34839" y="4608576.0"/>
            <a:ext cx="3474719" cy="0.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34839" y="4681728"/>
            <a:ext cx="352043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Experience Cloudでマーケティング・DX領域に特化。クリエイティブ×データ分析が武器。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8" y="1435608"/>
            <a:ext cx="3749039" cy="384048"/>
          </a:xfrm>
          <a:prstGeom prst="rect">
            <a:avLst/>
          </a:prstGeom>
          <a:solidFill>
            <a:srgbClr val="A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6" y="149910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Yu Gothic"/>
              </a:rPr>
              <a:t>Tier 3  国内注目プレイヤー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8" y="1819656"/>
            <a:ext cx="3749039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8" y="1819656"/>
            <a:ext cx="54864" cy="2258568"/>
          </a:xfrm>
          <a:prstGeom prst="rect">
            <a:avLst/>
          </a:prstGeom>
          <a:solidFill>
            <a:srgbClr val="A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8" y="191109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Yu Gothic"/>
              </a:rPr>
              <a:t>マネーフォワード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78" y="2295144.0"/>
            <a:ext cx="3474719" cy="0.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78" y="2368296"/>
            <a:ext cx="352043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クラウド会計・給与で中小企業向けに急成長。バックオフィス全般のSaaS化を推進。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8" y="4133088"/>
            <a:ext cx="3749039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8" y="4133088"/>
            <a:ext cx="54864" cy="2258568"/>
          </a:xfrm>
          <a:prstGeom prst="rect">
            <a:avLst/>
          </a:prstGeom>
          <a:solidFill>
            <a:srgbClr val="A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8" y="42245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Yu Gothic"/>
              </a:rPr>
              <a:t>freee / Sansan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78" y="4608576.0"/>
            <a:ext cx="3474719" cy="0.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12478" y="4681728"/>
            <a:ext cx="352043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freeeは会計・HR、SansanはCRM×名刺管理で差別化。国内SMBのDX浸透を牽引。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5760" y="6601968"/>
            <a:ext cx="1143000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" y="66273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Yu Gothic"/>
              </a:rPr>
              <a:t>出所：各社公開情報 / Salesforce Ventures調査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31752" y="660196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371600" cy="237744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4000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Yu Gothic"/>
              </a:rPr>
              <a:t>調査サマリー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C2A"/>
                </a:solidFill>
                <a:latin typeface="Yu Gothic"/>
              </a:rPr>
              <a:t>AI統合・バーティカル特化・PLGの3潮流が2025年のSaaS市場の次なる成長エンジンとなる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44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Yu Gothic"/>
              </a:rPr>
              <a:t>主要トレンド｜Key Trends 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636776"/>
            <a:ext cx="11430000" cy="0"/>
          </a:xfrm>
          <a:prstGeom prst="line">
            <a:avLst/>
          </a:prstGeom>
          <a:ln w="19050">
            <a:solidFill>
              <a:srgbClr val="2E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709928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5486400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755648"/>
            <a:ext cx="713232" cy="23774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76479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Yu Gothic"/>
              </a:rPr>
              <a:t>① AI統合SaaSの台頭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12264"/>
            <a:ext cx="5285232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ChatGPT等のLLMがSaaS製品に組み込まれ業務自動化が急加速。Salesforce Einstein・Microsoft Copilotが先行し、「AI前提」の製品設計が業界標準になりつつある。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09928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09928"/>
            <a:ext cx="5486400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64240" y="1755648"/>
            <a:ext cx="713232" cy="23774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176479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Yu Gothic"/>
              </a:rPr>
              <a:t>② バーティカルSaaS（業界特化）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112264"/>
            <a:ext cx="5285232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医療・建設・製造など業界特化型SaaSが急成長。汎用SaaSより解約率が低く高ARRを実現。国内でも医療DX・建設DX領域で新興プレイヤーが台頭。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41648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041648"/>
            <a:ext cx="5486400" cy="347472"/>
          </a:xfrm>
          <a:prstGeom prst="rect">
            <a:avLst/>
          </a:prstGeom>
          <a:solidFill>
            <a:srgbClr val="A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4087368"/>
            <a:ext cx="713232" cy="237744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409651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4087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Yu Gothic"/>
              </a:rPr>
              <a:t>③ PLG（Product-Led Growth）の浸透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443984"/>
            <a:ext cx="5285232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フリーミアム→有料転換モデルが主流に。エンドユーザーが試して採用するボトムアップ型で、SMB獲得コストを大幅削減。国内SaaSも積極採用中。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041648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041648"/>
            <a:ext cx="5486400" cy="347472"/>
          </a:xfrm>
          <a:prstGeom prst="rect">
            <a:avLst/>
          </a:prstGeom>
          <a:solidFill>
            <a:srgbClr val="A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64240" y="4087368"/>
            <a:ext cx="713232" cy="237744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82528" y="409651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087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Yu Gothic"/>
              </a:rPr>
              <a:t>④ セキュリティ・コンプライアンス強化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443984"/>
            <a:ext cx="5285232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Yu Gothic"/>
              </a:rPr>
              <a:t>政府のクラウド移行方針とともにISMAP認証・ゼロトラスト対応が選定条件に浮上。公共・金融分野への参入には必須要件となってきた。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" y="6601968"/>
            <a:ext cx="1143000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5760" y="66273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Yu Gothic"/>
              </a:rPr>
              <a:t>出所：各種業界調査 / FastGrow / Salesforce Ventures / 公開情報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31752" y="660196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371600" cy="237744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4000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Yu Gothic"/>
              </a:rPr>
              <a:t>示唆・提言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C2A"/>
                </a:solidFill>
                <a:latin typeface="Yu Gothic"/>
              </a:rPr>
              <a:t>参入優先度は「バーティカルSaaS×AI機能統合」が最上位、まずPLGモデルの設計から着手すべき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44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Yu Gothic"/>
              </a:rPr>
              <a:t>ビジネス示唆｜Recommended Actions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636776"/>
            <a:ext cx="11430000" cy="0"/>
          </a:xfrm>
          <a:prstGeom prst="line">
            <a:avLst/>
          </a:prstGeom>
          <a:ln w="19050">
            <a:solidFill>
              <a:srgbClr val="2E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709928"/>
            <a:ext cx="11521440" cy="1143000"/>
          </a:xfrm>
          <a:prstGeom prst="rect">
            <a:avLst/>
          </a:prstGeom>
          <a:solidFill>
            <a:srgbClr val="E8F5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822960" cy="11430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12140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01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C2A"/>
                </a:solidFill>
                <a:latin typeface="Yu Gothic"/>
              </a:rPr>
              <a:t>▶  バーティカルSaaSへの参入検討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85416"/>
            <a:ext cx="10469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汎用SaaSが成熟しつつある現在、業界特化型は競争が少なく高ARRを狙える。医療・建設・製造を優先領域として検討。参入コストを抑えるため既存SaaS APIとの連携設計が鍵。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44368"/>
            <a:ext cx="115214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944368"/>
            <a:ext cx="822960" cy="11430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335584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358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C2A"/>
                </a:solidFill>
                <a:latin typeface="Yu Gothic"/>
              </a:rPr>
              <a:t>▶  AI機能の早期組み込み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9856"/>
            <a:ext cx="10469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LLM統合は今や顧客の期待値。競合に対する差別化として既存プロダクトへのCopilot的機能追加を最優先で投資。PoC→3ヶ月での本番展開を目安に計画を立てる。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78808"/>
            <a:ext cx="11521440" cy="1143000"/>
          </a:xfrm>
          <a:prstGeom prst="rect">
            <a:avLst/>
          </a:prstGeom>
          <a:solidFill>
            <a:srgbClr val="E8F5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78808"/>
            <a:ext cx="822960" cy="1143000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45902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702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C2A"/>
                </a:solidFill>
                <a:latin typeface="Yu Gothic"/>
              </a:rPr>
              <a:t>▶  PLGモデルへの転換検討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54296"/>
            <a:ext cx="10469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SMB市場獲得にはフリーミアム→有料転換モデルが有効。営業コスト削減とロングテール顧客獲得を同時に実現。Onboarding体験設計がPLG成否の核心。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413248"/>
            <a:ext cx="115214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5413248"/>
            <a:ext cx="822960" cy="1143000"/>
          </a:xfrm>
          <a:prstGeom prst="rect">
            <a:avLst/>
          </a:prstGeom>
          <a:solidFill>
            <a:srgbClr val="2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582472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504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C2A"/>
                </a:solidFill>
                <a:latin typeface="Yu Gothic"/>
              </a:rPr>
              <a:t>▶  ISMAP・セキュリティ認証取得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888736"/>
            <a:ext cx="10469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Yu Gothic"/>
              </a:rPr>
              <a:t>政府・自治体案件を狙う場合、ISMAP登録は必須要件。認証取得で公共市場への参入障壁を突破できる。申請〜取得まで12〜18ヶ月を想定した先行投資が必要。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" y="6601968"/>
            <a:ext cx="11430000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66273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Yu Gothic"/>
              </a:rPr>
              <a:t>出所：各種市場調査 / BCG分析フレームワーク参照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31752" y="660196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